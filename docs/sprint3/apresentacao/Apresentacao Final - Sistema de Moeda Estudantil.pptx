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6297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572000"/>
            <a:ext cx="3291840" cy="3291840"/>
          </a:xfrm>
          <a:prstGeom prst="ellipse">
            <a:avLst/>
          </a:prstGeom>
          <a:solidFill>
            <a:srgbClr val="16297A"/>
          </a:solidFill>
          <a:ln/>
        </p:spPr>
      </p:sp>
      <p:pic>
        <p:nvPicPr>
          <p:cNvPr id="4" name="Image 0" descr="/Users/gustavo-notebook/Projects/university/sistema-moeda-estudantil/doc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713232"/>
            <a:ext cx="1371600" cy="13716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33172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Moeda Estudantil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28016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6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do mérito estudantil através de uma moeda virtual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80160" y="3794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C1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 1  ·  LAB03  ·  SPRINTS 01–03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23360" y="4526280"/>
            <a:ext cx="4142232" cy="0"/>
          </a:xfrm>
          <a:prstGeom prst="line">
            <a:avLst/>
          </a:prstGeom>
          <a:noFill/>
          <a:ln w="12700">
            <a:solidFill>
              <a:srgbClr val="3A4C9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47091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 Minas — Engenharia de Software (4º Período)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Desenvolvimento de Software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João Paulo Carneiro Aramuni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6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Aluno: Gustavo Pessoa Firmino Duarte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ROTEIRO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apresentar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92840" y="457200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539496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2296" cy="914400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819656"/>
            <a:ext cx="475488" cy="475488"/>
          </a:xfrm>
          <a:prstGeom prst="ellipse">
            <a:avLst/>
          </a:prstGeom>
          <a:solidFill>
            <a:srgbClr val="FFC10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19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600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e a solução proposta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9496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00200"/>
            <a:ext cx="82296" cy="9144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2" name="Shape 10"/>
          <p:cNvSpPr/>
          <p:nvPr/>
        </p:nvSpPr>
        <p:spPr>
          <a:xfrm>
            <a:off x="6519672" y="1819656"/>
            <a:ext cx="475488" cy="475488"/>
          </a:xfrm>
          <a:prstGeom prst="ellipse">
            <a:avLst/>
          </a:prstGeom>
          <a:solidFill>
            <a:srgbClr val="FFC10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819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1600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Atores, requisitos e regras de negócio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679192"/>
            <a:ext cx="539496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79192"/>
            <a:ext cx="82296" cy="914400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2898648"/>
            <a:ext cx="475488" cy="475488"/>
          </a:xfrm>
          <a:prstGeom prst="ellipse">
            <a:avLst/>
          </a:prstGeom>
          <a:solidFill>
            <a:srgbClr val="FFC10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2898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267919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MVC em camadas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2679192"/>
            <a:ext cx="539496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2679192"/>
            <a:ext cx="82296" cy="9144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2" name="Shape 20"/>
          <p:cNvSpPr/>
          <p:nvPr/>
        </p:nvSpPr>
        <p:spPr>
          <a:xfrm>
            <a:off x="6519672" y="2898648"/>
            <a:ext cx="475488" cy="475488"/>
          </a:xfrm>
          <a:prstGeom prst="ellipse">
            <a:avLst/>
          </a:prstGeom>
          <a:solidFill>
            <a:srgbClr val="FFC10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898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3760" y="267919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UML × código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3758184"/>
            <a:ext cx="539496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758184"/>
            <a:ext cx="82296" cy="914400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" y="3977640"/>
            <a:ext cx="475488" cy="475488"/>
          </a:xfrm>
          <a:prstGeom prst="ellipse">
            <a:avLst/>
          </a:prstGeom>
          <a:solidFill>
            <a:srgbClr val="FFC10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39776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00200" y="3758184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persistência (JPA / ORM)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63640" y="3758184"/>
            <a:ext cx="539496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3758184"/>
            <a:ext cx="82296" cy="9144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2" name="Shape 30"/>
          <p:cNvSpPr/>
          <p:nvPr/>
        </p:nvSpPr>
        <p:spPr>
          <a:xfrm>
            <a:off x="6519672" y="3977640"/>
            <a:ext cx="475488" cy="475488"/>
          </a:xfrm>
          <a:prstGeom prst="ellipse">
            <a:avLst/>
          </a:prstGeom>
          <a:solidFill>
            <a:srgbClr val="FFC10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39776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23760" y="3758184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Salão de tecnologias — a stack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0080" y="4837176"/>
            <a:ext cx="539496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4837176"/>
            <a:ext cx="82296" cy="914400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37" name="Shape 35"/>
          <p:cNvSpPr/>
          <p:nvPr/>
        </p:nvSpPr>
        <p:spPr>
          <a:xfrm>
            <a:off x="896112" y="5056632"/>
            <a:ext cx="475488" cy="475488"/>
          </a:xfrm>
          <a:prstGeom prst="ellipse">
            <a:avLst/>
          </a:prstGeom>
          <a:solidFill>
            <a:srgbClr val="FFC10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5056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600200" y="483717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do protótipo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263640" y="4837176"/>
            <a:ext cx="539496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4837176"/>
            <a:ext cx="82296" cy="9144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42" name="Shape 40"/>
          <p:cNvSpPr/>
          <p:nvPr/>
        </p:nvSpPr>
        <p:spPr>
          <a:xfrm>
            <a:off x="6519672" y="5056632"/>
            <a:ext cx="475488" cy="475488"/>
          </a:xfrm>
          <a:prstGeom prst="ellipse">
            <a:avLst/>
          </a:prstGeom>
          <a:solidFill>
            <a:srgbClr val="FFC10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9672" y="5056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23760" y="483717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modelo e correções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 e a solução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92840" y="457200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349240" cy="44805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480560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4800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esforço e a participação dos alunos costuma ser informal e sem rastreabilidade.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um mecanismo formal que conecte mérito acadêmico a benefícios concretos.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49240" cy="44805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554480"/>
            <a:ext cx="82296" cy="44805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SOLUÇÃO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4800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distribuem moedas virtuais como reconhecimento, com mensagem obrigatória.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trocam moedas por vantagens reais em empresas parceiras.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automáticas por e-mail e cupom com código de conferência.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Extrato completo para professores e alunos.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REQUISITOS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Atores e funcionalidades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92840" y="457200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1092708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2296" cy="1325880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84248"/>
            <a:ext cx="566928" cy="566928"/>
          </a:xfrm>
          <a:prstGeom prst="ellipse">
            <a:avLst/>
          </a:prstGeom>
          <a:solidFill>
            <a:srgbClr val="FFC10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7465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Aluno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2112264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(nome, e-mail, CPF, RG, endereço, instituição, curso); dashboard; extrato; catálogo e resgate de vantagens.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081528"/>
            <a:ext cx="1092708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081528"/>
            <a:ext cx="82296" cy="1325880"/>
          </a:xfrm>
          <a:prstGeom prst="rect">
            <a:avLst/>
          </a:prstGeom>
          <a:solidFill>
            <a:srgbClr val="1B9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465576"/>
            <a:ext cx="566928" cy="566928"/>
          </a:xfrm>
          <a:prstGeom prst="ellipse">
            <a:avLst/>
          </a:prstGeom>
          <a:solidFill>
            <a:srgbClr val="FFC10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655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32278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3593592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Pré-cadastrado pela instituição; 1.000 moedas/semestre acumuláveis; envio com motivo obrigatório; extrato.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562856"/>
            <a:ext cx="1092708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562856"/>
            <a:ext cx="82296" cy="1325880"/>
          </a:xfrm>
          <a:prstGeom prst="rect">
            <a:avLst/>
          </a:prstGeom>
          <a:solidFill>
            <a:srgbClr val="B7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946904"/>
            <a:ext cx="566928" cy="566928"/>
          </a:xfrm>
          <a:prstGeom prst="ellipse">
            <a:avLst/>
          </a:prstGeom>
          <a:solidFill>
            <a:srgbClr val="FFC10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9469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4709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Empresa Parceira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5074920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Cadastro; CRUD de vantagens com foto, descrição e custo; notificação de resgate por e-mail.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DOMÍNIO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Regras de negócio principais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92840" y="457200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3520440" cy="1920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82296" cy="1920240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470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1.000 moedas/semestre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48716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saldo do professor é acumulativo entre semestres.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1920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645920"/>
            <a:ext cx="82296" cy="192024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8470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Saldo suficiente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48716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envio só ocorre se o professor tiver saldo; valor positivo.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520440" cy="1920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45920"/>
            <a:ext cx="82296" cy="1920240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18470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Mensagem obrigatória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2752" y="248716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envio de moedas exige um motivo de reconhecimento.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3520440" cy="1920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94760"/>
            <a:ext cx="82296" cy="192024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9959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Desconto no resgate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" y="463600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da vantagem é debitado do saldo do aluno.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43400" y="3794760"/>
            <a:ext cx="3520440" cy="1920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3794760"/>
            <a:ext cx="82296" cy="1920240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23" name="Text 21"/>
          <p:cNvSpPr/>
          <p:nvPr/>
        </p:nvSpPr>
        <p:spPr>
          <a:xfrm>
            <a:off x="4599432" y="39959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Cupom + código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99432" y="463600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ao aluno e ao parceiro com código gerado pelo sistema.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46720" y="3794760"/>
            <a:ext cx="3520440" cy="1920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0" y="3794760"/>
            <a:ext cx="82296" cy="192024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7" name="Text 25"/>
          <p:cNvSpPr/>
          <p:nvPr/>
        </p:nvSpPr>
        <p:spPr>
          <a:xfrm>
            <a:off x="8302752" y="39959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Autenticação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02752" y="4636008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Aluno, professor e empresa acessam via login e senha.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MVC em camadas com Spring Boot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92840" y="457200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554480"/>
            <a:ext cx="6766560" cy="64008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6" name="Text 4"/>
          <p:cNvSpPr/>
          <p:nvPr/>
        </p:nvSpPr>
        <p:spPr>
          <a:xfrm>
            <a:off x="2057400" y="1554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 / 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Thymeleaf renderizados no servidor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0" y="2194560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28800" y="2322576"/>
            <a:ext cx="6766560" cy="640080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232257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322576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 requisição HTTP e devolve a 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0" y="2962656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28800" y="3090672"/>
            <a:ext cx="6766560" cy="640080"/>
          </a:xfrm>
          <a:prstGeom prst="rect">
            <a:avLst/>
          </a:prstGeom>
          <a:solidFill>
            <a:srgbClr val="2E73D8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309067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090672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negócio, validações e orquestração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12080" y="3730752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828800" y="3858768"/>
            <a:ext cx="6766560" cy="640080"/>
          </a:xfrm>
          <a:prstGeom prst="rect">
            <a:avLst/>
          </a:prstGeom>
          <a:solidFill>
            <a:srgbClr val="3E86E0"/>
          </a:solidFill>
          <a:ln/>
        </p:spPr>
      </p:sp>
      <p:sp>
        <p:nvSpPr>
          <p:cNvPr id="18" name="Text 16"/>
          <p:cNvSpPr/>
          <p:nvPr/>
        </p:nvSpPr>
        <p:spPr>
          <a:xfrm>
            <a:off x="2057400" y="385876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(DAO)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3858768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— acesso a dados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12080" y="4498848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828800" y="4626864"/>
            <a:ext cx="6766560" cy="640080"/>
          </a:xfrm>
          <a:prstGeom prst="rect">
            <a:avLst/>
          </a:prstGeom>
          <a:solidFill>
            <a:srgbClr val="5AA0EA"/>
          </a:solidFill>
          <a:ln/>
        </p:spPr>
      </p:sp>
      <p:sp>
        <p:nvSpPr>
          <p:cNvPr id="22" name="Text 20"/>
          <p:cNvSpPr/>
          <p:nvPr/>
        </p:nvSpPr>
        <p:spPr>
          <a:xfrm>
            <a:off x="2057400" y="462686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/ Entity (JPA)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4626864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ORM das tabelas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12080" y="5266944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828800" y="5394960"/>
            <a:ext cx="6766560" cy="640080"/>
          </a:xfrm>
          <a:prstGeom prst="rect">
            <a:avLst/>
          </a:prstGeom>
          <a:solidFill>
            <a:srgbClr val="1B9E5A"/>
          </a:solidFill>
          <a:ln/>
        </p:spPr>
      </p:sp>
      <p:sp>
        <p:nvSpPr>
          <p:cNvPr id="26" name="Text 24"/>
          <p:cNvSpPr/>
          <p:nvPr/>
        </p:nvSpPr>
        <p:spPr>
          <a:xfrm>
            <a:off x="2057400" y="5394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16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54880" y="539496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relacional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06840" y="1554480"/>
            <a:ext cx="2560320" cy="460857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06840" y="1554480"/>
            <a:ext cx="82296" cy="4608576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0" name="Text 28"/>
          <p:cNvSpPr/>
          <p:nvPr/>
        </p:nvSpPr>
        <p:spPr>
          <a:xfrm>
            <a:off x="9189720" y="17373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Pacotes de apoio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89720" y="2103120"/>
            <a:ext cx="2240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/ mapper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(@ControllerAdvice)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MODELAGEM — LAB03S01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Classes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92840" y="457200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pic>
        <p:nvPicPr>
          <p:cNvPr id="5" name="Image 0" descr="/Users/gustavo-notebook/Projects/university/sistema-moeda-estudantil/docs/sprint1/diagrama-classes/v1/Diagrama de Classes - Sistema de Moeda Estudant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822960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98280" y="1508760"/>
            <a:ext cx="2468880" cy="49377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098280" y="1508760"/>
            <a:ext cx="82296" cy="4937760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8" name="Text 5"/>
          <p:cNvSpPr/>
          <p:nvPr/>
        </p:nvSpPr>
        <p:spPr>
          <a:xfrm>
            <a:off x="9281160" y="1737360"/>
            <a:ext cx="214884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5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→ Aluno, Professor, EmpresaParceira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Transacao → Envio, Resgate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aderente ao código entregue.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MODELAGEM — LAB03S02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Entidade-Relacionamento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92840" y="457200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pic>
        <p:nvPicPr>
          <p:cNvPr id="5" name="Image 0" descr="/Users/gustavo-notebook/Projects/university/sistema-moeda-estudantil/docs/sprint2/modelo-er/v1/Modelo ER - Sistema de Moeda Estudant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822960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98280" y="1508760"/>
            <a:ext cx="2468880" cy="49377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098280" y="1508760"/>
            <a:ext cx="82296" cy="49377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8" name="Text 5"/>
          <p:cNvSpPr/>
          <p:nvPr/>
        </p:nvSpPr>
        <p:spPr>
          <a:xfrm>
            <a:off x="9281160" y="1737360"/>
            <a:ext cx="214884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7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ER ao banco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Mapeado via JPA/Hibernate (ddl-auto).</a:t>
            </a: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Instituições e professor padrão populados pelo DataInitializer.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 de acesso a dados (ORM)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92840" y="457200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55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Hibernate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 como camada DAO; sem SQL manual no domínio.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109270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4617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Hierarquia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5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→ Aluno, Professor, EmpresaParceira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Subtipos com campos muito distintos; evita colunas nulas.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Transacao → TransacaoEnvio, TransacaoResgate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SINGLE_TABLE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Poucos campos específicos; evita JOINs no extrato.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846320"/>
            <a:ext cx="1092708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4846320"/>
            <a:ext cx="82296" cy="13258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02920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B7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de projeto: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SINGLE_TABLE, colunas de um subtipo não podem ser NOT NULL no banco — a obrigatoriedade é garantida na camada de serviço/DTO. Esse ajuste foi aplicado em codigoCupom e mensagem.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SALÃO DE TECNOLOGIAS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stack escolhida e o porquê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92840" y="457200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5394960" cy="135331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2296" cy="1353312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6479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 21 + Spring Boot 3.5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96112" y="2176272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maduro, injeção de dependências e produtividade.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135331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600200"/>
            <a:ext cx="82296" cy="135331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6479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MVC + Thymeleaf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19672" y="2176272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Controller e View do padrão MVC, renderização no servidor.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5394960" cy="135331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18104"/>
            <a:ext cx="82296" cy="1353312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282696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Data JPA + Hibernate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96112" y="3694176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com repositórios; menos boilerplate de acesso a dados.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118104"/>
            <a:ext cx="5394960" cy="135331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118104"/>
            <a:ext cx="82296" cy="135331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3282696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Security 6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19672" y="3694176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por formulário e autorização por papéis.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636008"/>
            <a:ext cx="5394960" cy="135331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636008"/>
            <a:ext cx="82296" cy="1353312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8006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16 + Docker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96112" y="5212080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 containerizado, ambiente reproduzível.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4636008"/>
            <a:ext cx="5394960" cy="135331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4636008"/>
            <a:ext cx="82296" cy="135331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8006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Bootstrap 5 + Spring Mail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519672" y="5212080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responsiva e notificações por e-mail das transações.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Acesso, cadastro e dashboards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92840" y="457200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394960" cy="2240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Users/gustavo-notebook/Projects/university/sistema-moeda-estudantil/docs/screenshots/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45920"/>
            <a:ext cx="5212080" cy="1783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3814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autenticado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94960" cy="2240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/Users/gustavo-notebook/Projects/university/sistema-moeda-estudantil/docs/screenshots/cadastro-alun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645920"/>
            <a:ext cx="5212080" cy="1783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343814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Cadastro de aluno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931920"/>
            <a:ext cx="5394960" cy="2240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/Users/gustavo-notebook/Projects/university/sistema-moeda-estudantil/docs/screenshots/dashboard-alun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4023360"/>
            <a:ext cx="5212080" cy="1783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581558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do aluno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63640" y="3931920"/>
            <a:ext cx="5394960" cy="2240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/Users/gustavo-notebook/Projects/university/sistema-moeda-estudantil/docs/screenshots/dashboard-professo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5080" y="4023360"/>
            <a:ext cx="5212080" cy="1783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5080" y="581558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do professor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Moedas, vantagens e resgate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92840" y="457200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394960" cy="2240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Users/gustavo-notebook/Projects/university/sistema-moeda-estudantil/docs/screenshots/enviar-moed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45920"/>
            <a:ext cx="5212080" cy="1783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3814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Professor envia moedas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394960" cy="2240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/Users/gustavo-notebook/Projects/university/sistema-moeda-estudantil/docs/screenshots/dashboard-empres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645920"/>
            <a:ext cx="5212080" cy="1783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343814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da empresa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931920"/>
            <a:ext cx="5394960" cy="2240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/Users/gustavo-notebook/Projects/university/sistema-moeda-estudantil/docs/screenshots/gerenciar-vantagen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1520" y="4023360"/>
            <a:ext cx="5212080" cy="1783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581558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CRUD de vantagens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63640" y="3931920"/>
            <a:ext cx="5394960" cy="22402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/Users/gustavo-notebook/Projects/university/sistema-moeda-estudantil/docs/screenshots/vantagen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5080" y="4023360"/>
            <a:ext cx="5212080" cy="1783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5080" y="581558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E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Catálogo e resgate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5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× código e correções aplicadas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292840" y="457200"/>
            <a:ext cx="384048" cy="38404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1092708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2296" cy="1325880"/>
          </a:xfrm>
          <a:prstGeom prst="rect">
            <a:avLst/>
          </a:prstGeom>
          <a:solidFill>
            <a:srgbClr val="2552E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4650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Herança SINGLE_TABLE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12264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codigoCupom e mensagem deixaram de ser NOT NULL no banco — obrigatoriedade movida para serviço/DTO. Corrigiu falha no envio de moedas e no resgate.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81528"/>
            <a:ext cx="1092708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081528"/>
            <a:ext cx="82296" cy="13258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278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Expressão Thymeleaf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59359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Java em SpEL substituída por seleção (vantagens.?[ativa].size()); dashboard da empresa voltou a renderizar.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1092708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E1E5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562856"/>
            <a:ext cx="82296" cy="1325880"/>
          </a:xfrm>
          <a:prstGeom prst="rect">
            <a:avLst/>
          </a:prstGeom>
          <a:solidFill>
            <a:srgbClr val="1B9E5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Tratamento de erros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NoResourceFoundException tratada como 404 e favicon adicionado, evitando 500 em recursos estáticos.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E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3840480" cy="3840480"/>
          </a:xfrm>
          <a:prstGeom prst="ellipse">
            <a:avLst/>
          </a:prstGeom>
          <a:solidFill>
            <a:srgbClr val="16297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6297A"/>
          </a:solidFill>
          <a:ln/>
        </p:spPr>
      </p:sp>
      <p:pic>
        <p:nvPicPr>
          <p:cNvPr id="4" name="Image 0" descr="/Users/gustavo-notebook/Projects/university/sistema-moeda-estudantil/doc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Entrega concluída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77240" y="278892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D7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01–03 entregues: modelagem UML, modelo ER, estratégia ORM e CRUDs.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D7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crítico validado ponta a ponta: cadastro, envio, resgate e extrato.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D7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MVC alinhada ao modelo de classes e de componentes.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Obrigado!  ·  PUC Minas — Engenharia de Software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Moeda Estudantil — Release 1</dc:title>
  <dc:subject>PptxGenJS Presentation</dc:subject>
  <dc:creator>Gustavo Pessoa Firmino Duarte</dc:creator>
  <cp:lastModifiedBy>Gustavo Pessoa Firmino Duarte</cp:lastModifiedBy>
  <cp:revision>1</cp:revision>
  <dcterms:created xsi:type="dcterms:W3CDTF">2026-05-15T23:43:08Z</dcterms:created>
  <dcterms:modified xsi:type="dcterms:W3CDTF">2026-05-15T23:43:08Z</dcterms:modified>
</cp:coreProperties>
</file>